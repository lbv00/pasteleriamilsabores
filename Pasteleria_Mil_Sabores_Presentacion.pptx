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2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itrin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3720" y="0"/>
            <a:ext cx="52578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46520" y="0"/>
            <a:ext cx="457200" cy="685800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DSY1104 · DESARROLLO FULLSTACK II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146304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Pastelería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Mil Sabores</a:t>
            </a:r>
            <a:endParaRPr lang="en-US" sz="5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429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3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Parcial N°1 — Presentación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3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Construyendo las bases de nuestra aplicación web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4480560"/>
            <a:ext cx="2011680" cy="0"/>
          </a:xfrm>
          <a:prstGeom prst="line">
            <a:avLst/>
          </a:prstGeom>
          <a:noFill/>
          <a:ln w="25400">
            <a:solidFill>
              <a:srgbClr val="C98A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937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 Buitano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321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Berríos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57058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Valentina Osses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3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PROYECTO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Una tienda online de pastelería, construida desde cero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Pastelería Mil Sabores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sitio frontend que desarrollamos para esta primera etapa del examen transversal: una tienda online con catálogo, carrito, cuentas de usuario y un panel administrativo.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2788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F3DEE2"/>
            </a:solidFill>
            <a:prstDash val="solid"/>
          </a:ln>
          <a:effectLst>
            <a:outerShdw sx="100000" sy="100000" kx="0" ky="0" algn="bl" rotWithShape="0" blurRad="76200" dist="25400" dir="5400000">
              <a:srgbClr val="3E2723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13232" y="35021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37947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y semántica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11880" y="3429000"/>
            <a:ext cx="2788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F3DEE2"/>
            </a:solidFill>
            <a:prstDash val="solid"/>
          </a:ln>
          <a:effectLst>
            <a:outerShdw sx="100000" sy="100000" kx="0" ky="0" algn="bl" rotWithShape="0" blurRad="76200" dist="25400" dir="5400000">
              <a:srgbClr val="3E2723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776472" y="35021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776472" y="37947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 identidad visual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2788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F3DEE2"/>
            </a:solidFill>
            <a:prstDash val="solid"/>
          </a:ln>
          <a:effectLst>
            <a:outerShdw sx="100000" sy="100000" kx="0" ky="0" algn="bl" rotWithShape="0" blurRad="76200" dist="25400" dir="5400000">
              <a:srgbClr val="3E2723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13232" y="43708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46634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 y validaciones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11880" y="4297680"/>
            <a:ext cx="2788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F3DEE2"/>
            </a:solidFill>
            <a:prstDash val="solid"/>
          </a:ln>
          <a:effectLst>
            <a:outerShdw sx="100000" sy="100000" kx="0" ky="0" algn="bl" rotWithShape="0" blurRad="76200" dist="25400" dir="5400000">
              <a:srgbClr val="3E2723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776472" y="43708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776472" y="46634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responsive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166360"/>
            <a:ext cx="2788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F3DEE2"/>
            </a:solidFill>
            <a:prstDash val="solid"/>
          </a:ln>
          <a:effectLst>
            <a:outerShdw sx="100000" sy="100000" kx="0" ky="0" algn="bl" rotWithShape="0" blurRad="76200" dist="25400" dir="5400000">
              <a:srgbClr val="3E2723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13232" y="52395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5532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colaborativo</a:t>
            </a:r>
            <a:endParaRPr lang="en-US" sz="1050" dirty="0"/>
          </a:p>
        </p:txBody>
      </p:sp>
      <p:pic>
        <p:nvPicPr>
          <p:cNvPr id="20" name="Image 0" descr="torta-manja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60920" y="1737360"/>
            <a:ext cx="4251960" cy="283464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7360920" y="4709160"/>
            <a:ext cx="4251960" cy="1417320"/>
          </a:xfrm>
          <a:prstGeom prst="roundRect">
            <a:avLst>
              <a:gd name="adj" fmla="val 5161"/>
            </a:avLst>
          </a:prstGeom>
          <a:solidFill>
            <a:srgbClr val="3E2723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589520" y="48646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589520" y="513892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el frontend de la tienda aplicando buenas prácticas de HTML5, CSS y JavaScript, con un flujo de trabajo colaborativo en Git y GitHub.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IE1.1.1 / IE1.1.3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Estructura y etiquetado semántico en HTML5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A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página se construyó respetando la semántica de HTML5, para que la estructura del contenido sea clara tanto para el usuario como para el navegador.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060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F3DE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4963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3DEE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352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27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200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marca y menú principal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2331720"/>
            <a:ext cx="26060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F3DE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24963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3DEE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66160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9352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27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200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entre secciones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2331720"/>
            <a:ext cx="26060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F3DE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24963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3DEE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0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9352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27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200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central de cada vista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26060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F3DE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9136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3DEE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3525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27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6177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 temáticos de contenido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3749040"/>
            <a:ext cx="26060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F3DE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66160" y="39136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3DEE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56616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566160" y="43525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27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566160" y="46177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Producto, publicación o reseña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3749040"/>
            <a:ext cx="26060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F3DE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39136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3DEE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0080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0" y="43525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27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0" y="46177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contacto y enlaces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989320"/>
            <a:ext cx="8778240" cy="548640"/>
          </a:xfrm>
          <a:prstGeom prst="roundRect">
            <a:avLst>
              <a:gd name="adj" fmla="val 13333"/>
            </a:avLst>
          </a:prstGeom>
          <a:solidFill>
            <a:srgbClr val="F3DEE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77240" y="59893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páginas conectadas por hipervínculos: inicio, productos, detalle de producto, carrito, login, registro, contacto, nosotros, blog y panel administrativo.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E2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IE1.1.1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Contenido interconectado y multimedia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3152" cy="822960"/>
          </a:xfrm>
          <a:prstGeom prst="roundRect">
            <a:avLst/>
          </a:prstGeom>
          <a:solidFill>
            <a:srgbClr val="C98A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Hipervínculos funcionales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3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menú, el footer y las tarjetas de producto enlazan todas las páginas del sitio de forma coherente.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73152" cy="822960"/>
          </a:xfrm>
          <a:prstGeom prst="roundRect">
            <a:avLst/>
          </a:prstGeom>
          <a:solidFill>
            <a:srgbClr val="C98A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8346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y botones operativos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004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3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Fotografías propias de tortas y cupcakes, botones de “agregar al carrito”, “ver detalle” e inicio de sesión.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73152" cy="822960"/>
          </a:xfrm>
          <a:prstGeom prst="roundRect">
            <a:avLst/>
          </a:prstGeom>
          <a:solidFill>
            <a:srgbClr val="C98A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8862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interactivos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2519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3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login, contacto y reseñas, todos con etiquetas asociadas a sus campos.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73152" cy="822960"/>
          </a:xfrm>
          <a:prstGeom prst="roundRect">
            <a:avLst/>
          </a:prstGeom>
          <a:solidFill>
            <a:srgbClr val="C98A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9377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informativo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3035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3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contacto, redes sociales y enlaces rápidos en todas las vistas.</a:t>
            </a:r>
            <a:endParaRPr lang="en-US" sz="1150" dirty="0"/>
          </a:p>
        </p:txBody>
      </p:sp>
      <p:pic>
        <p:nvPicPr>
          <p:cNvPr id="16" name="Image 0" descr="cupcak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60920" y="1828800"/>
            <a:ext cx="4251960" cy="1965960"/>
          </a:xfrm>
          <a:prstGeom prst="rect">
            <a:avLst/>
          </a:prstGeom>
        </p:spPr>
      </p:pic>
      <p:pic>
        <p:nvPicPr>
          <p:cNvPr id="17" name="Image 1" descr="torta-chocolat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60920" y="3931920"/>
            <a:ext cx="4251960" cy="196596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3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IE1.1.2 / IE1.1.4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Una hoja de estilos, una identidad visual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E27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assets/css/estilos.css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enlaza externamente en las 14 páginas del sitio, lo que mantiene una identidad visual consistente y facilita el mantenimiento: un cambio de estilo se hace en un solo lugar.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43784"/>
            <a:ext cx="146304" cy="146304"/>
          </a:xfrm>
          <a:prstGeom prst="ellipse">
            <a:avLst/>
          </a:prstGeom>
          <a:solidFill>
            <a:srgbClr val="C98A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7340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cálida asociada a la pastelería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11880" y="2843784"/>
            <a:ext cx="146304" cy="146304"/>
          </a:xfrm>
          <a:prstGeom prst="ellipse">
            <a:avLst/>
          </a:prstGeom>
          <a:solidFill>
            <a:srgbClr val="C98A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904488" y="27340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 de producto reutilizables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410712"/>
            <a:ext cx="146304" cy="146304"/>
          </a:xfrm>
          <a:prstGeom prst="ellipse">
            <a:avLst/>
          </a:prstGeom>
          <a:solidFill>
            <a:srgbClr val="C98A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33009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 y estados personalizados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11880" y="3410712"/>
            <a:ext cx="146304" cy="146304"/>
          </a:xfrm>
          <a:prstGeom prst="ellipse">
            <a:avLst/>
          </a:prstGeom>
          <a:solidFill>
            <a:srgbClr val="C98A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904488" y="33009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5.3.3 para grillas responsive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46304" cy="146304"/>
          </a:xfrm>
          <a:prstGeom prst="ellipse">
            <a:avLst/>
          </a:prstGeom>
          <a:solidFill>
            <a:srgbClr val="C98A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" y="38679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Tipografías de Google Fonts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11880" y="3977640"/>
            <a:ext cx="146304" cy="146304"/>
          </a:xfrm>
          <a:prstGeom prst="ellipse">
            <a:avLst/>
          </a:prstGeom>
          <a:solidFill>
            <a:srgbClr val="C98A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904488" y="38679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adaptables a cada pantalla</a:t>
            </a:r>
            <a:endParaRPr lang="en-US" sz="1200" dirty="0"/>
          </a:p>
        </p:txBody>
      </p:sp>
      <p:pic>
        <p:nvPicPr>
          <p:cNvPr id="17" name="Image 0" descr="vitrin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60920" y="1600200"/>
            <a:ext cx="4251960" cy="452628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IE1.2.1 / IE1.2.2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Formularios validados con JavaScript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E27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assets/js/form-utils.js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 la lógica de validación y se reutiliza en registro, login, contacto y reseñas.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8778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F3DE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24028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obligatorios y longitud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224028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required, minlength y maxlength combinados con JS.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035808"/>
            <a:ext cx="8778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F3DE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03580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correo y dominios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3035808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sintaxis y restringe a dominios permitidos (@duoc.cl, @gmail.com).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831336"/>
            <a:ext cx="8778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F3DE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83133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chileno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3831336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el dígito verificador antes de aceptar el registro.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626864"/>
            <a:ext cx="8778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F3DE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62686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de error en contexto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4626864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mostrarError() ubica el mensaje junto al campo, con estado aria-invalid.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422392"/>
            <a:ext cx="8778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F3DE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542239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Sugerencias al usuario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5422392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limpiarError() confirma en vivo cuando el dato ya es válido.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E2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DETALLE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Ejemplo: validación del correo en el registro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492240" cy="2834640"/>
          </a:xfrm>
          <a:prstGeom prst="roundRect">
            <a:avLst>
              <a:gd name="adj" fmla="val 2581"/>
            </a:avLst>
          </a:prstGeom>
          <a:solidFill>
            <a:srgbClr val="2A1F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3DE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validarCorreo(correo) {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3DE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normalizado = correo.trim().toLowerCase();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3DE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formato = /^[^\s@]+@[^\s@]+\.[^\s@]+$/;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3DE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formato.test(normalizado) &amp;&amp;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3DE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DOMINIOS_PERMITIDOS.some(d =&gt; normalizado.endsWith(d));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3DE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assets/js/form-utils.js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360920" y="17830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logra?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60920" y="2148840"/>
            <a:ext cx="4251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el formato del correo con una expresión regular.
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Restringe el registro a dominios institucionales o de confianza.
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acopla a mostrarError() y limpiarError() para dar retroalimentación inmediata y accesible al usuario.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3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IE1.3.1 / IE1.3.2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Trabajo colaborativo en Git y GitHub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A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integrante trabajó en su propia rama y aportó al repositorio mediante Pull Requests, manteniendo commits claros y distribuidos por responsabilidad.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724912" cy="356616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2700">
            <a:solidFill>
              <a:srgbClr val="F3DE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31720"/>
            <a:ext cx="2724912" cy="566928"/>
          </a:xfrm>
          <a:prstGeom prst="roundRect">
            <a:avLst>
              <a:gd name="adj" fmla="val 12903"/>
            </a:avLst>
          </a:prstGeom>
          <a:solidFill>
            <a:srgbClr val="3E2723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743200"/>
            <a:ext cx="2724912" cy="155448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233172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 Buitano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017520"/>
            <a:ext cx="2395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general, estructura HTML y documentación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Commits: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406908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A7C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“integracion mas html”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A7C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“implementacion readme”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A7C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“cambios en los html y js”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0" y="2331720"/>
            <a:ext cx="2724912" cy="356616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2700">
            <a:solidFill>
              <a:srgbClr val="F3DE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2331720"/>
            <a:ext cx="2724912" cy="566928"/>
          </a:xfrm>
          <a:prstGeom prst="roundRect">
            <a:avLst>
              <a:gd name="adj" fmla="val 12903"/>
            </a:avLst>
          </a:prstGeom>
          <a:solidFill>
            <a:srgbClr val="3E2723"/>
          </a:solidFill>
          <a:ln/>
        </p:spPr>
      </p:sp>
      <p:sp>
        <p:nvSpPr>
          <p:cNvPr id="14" name="Shape 12"/>
          <p:cNvSpPr/>
          <p:nvPr/>
        </p:nvSpPr>
        <p:spPr>
          <a:xfrm>
            <a:off x="3474720" y="2743200"/>
            <a:ext cx="2724912" cy="155448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39312" y="233172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Berríos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639312" y="3017520"/>
            <a:ext cx="2395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de contenido y panel administrativo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639312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Commits: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639312" y="406908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A7C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“administrador agregado”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A7C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“agregado contacto”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A7C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“blogs corregido”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0" y="2331720"/>
            <a:ext cx="2724912" cy="356616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2700">
            <a:solidFill>
              <a:srgbClr val="F3DE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2331720"/>
            <a:ext cx="2724912" cy="566928"/>
          </a:xfrm>
          <a:prstGeom prst="roundRect">
            <a:avLst>
              <a:gd name="adj" fmla="val 12903"/>
            </a:avLst>
          </a:prstGeom>
          <a:solidFill>
            <a:srgbClr val="3E2723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0" y="2743200"/>
            <a:ext cx="2724912" cy="155448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65392" y="233172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Valentina Osses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565392" y="3017520"/>
            <a:ext cx="2395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JavaScript de administración y contenido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565392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Commits: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565392" y="406908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A7C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“añadido usuarios admin js”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A7C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“añadido productos admin js”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A7C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“agregado contenido”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E2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DEL REPOSITORIO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 historial de commits que cuenta el avance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8A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110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 por integrante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27685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3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y diego, integradas a main mediante Pull Requests revisados.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8A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96265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descriptivos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3284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3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como “administrador agregado” o “cambios en los html y js” reflejan el cambio realizado.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8A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01421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progresiva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37997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3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pull request #1 (vale) y #2 (diego) consolidan el trabajo de todo el equipo en main.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8A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506577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público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543153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3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github.com/LBV00/PasteleriaMilSabores, con historial disponible para revisión docente.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3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orta-manja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93776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394960" y="82296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 que viene en la Evaluación Parcial N°2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394960" y="2011680"/>
            <a:ext cx="128016" cy="128016"/>
          </a:xfrm>
          <a:prstGeom prst="ellipse">
            <a:avLst/>
          </a:prstGeom>
          <a:solidFill>
            <a:srgbClr val="C98A3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669280" y="189280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el documento ERS con requerimientos definitivos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394960" y="2578608"/>
            <a:ext cx="128016" cy="128016"/>
          </a:xfrm>
          <a:prstGeom prst="ellipse">
            <a:avLst/>
          </a:prstGeom>
          <a:solidFill>
            <a:srgbClr val="C98A3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0" y="245973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Terminar la lógica de acceso del panel administrativo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394960" y="3145536"/>
            <a:ext cx="128016" cy="128016"/>
          </a:xfrm>
          <a:prstGeom prst="ellipse">
            <a:avLst/>
          </a:prstGeom>
          <a:solidFill>
            <a:srgbClr val="C98A3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0" y="302666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persistencia con localStorage / sessionStorage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394960" y="3712464"/>
            <a:ext cx="128016" cy="128016"/>
          </a:xfrm>
          <a:prstGeom prst="ellipse">
            <a:avLst/>
          </a:prstGeom>
          <a:solidFill>
            <a:srgbClr val="C98A3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0" y="359359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 más pruebas de validación en formularios y carrito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394960" y="4526280"/>
            <a:ext cx="6172200" cy="1600200"/>
          </a:xfrm>
          <a:prstGeom prst="roundRect">
            <a:avLst>
              <a:gd name="adj" fmla="val 4571"/>
            </a:avLst>
          </a:prstGeom>
          <a:solidFill>
            <a:srgbClr val="3E272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623560" y="4663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Gracias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5623560" y="51663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 Buitano · Diego Berríos · Valentina Osses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623560" y="55321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8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github.com/LBV00/PasteleriaMilSabores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2026-09-09T15:25:26Z</dcterms:created>
  <dcterms:modified xsi:type="dcterms:W3CDTF">2026-09-09T15:25:26Z</dcterms:modified>
</cp:coreProperties>
</file>